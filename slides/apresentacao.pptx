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Diversidade e Apoio Socioeducativo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FE3E0"/>
                </a:solidFill>
                <a:latin typeface="Calibri"/>
              </a:rPr>
              <a:t>Agrupamento de Escolas Francisco de Arruda — Escola TEIP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9C7C4"/>
                </a:solidFill>
                <a:latin typeface="Calibri"/>
              </a:rPr>
              <a:t>Ajuda, Lisboa  ·  Dados anonimizados, 463 alunos  ·  Junho–Agosto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4F52"/>
                </a:solidFill>
                <a:latin typeface="Calibri"/>
              </a:rPr>
              <a:t>O que é uma escola TEIP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6751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O Programa Territórios Educativos de Intervenção Prioritária (TEIP) apoia agrupamentos de escolas em contextos socioeconómicos mais vulneráveis, com recursos e acompanhamento diferenciados.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Iniciado em 1996 e atualmente na sua 4ª geração (TEIP4, desde 2024/25), o programa tem como objetivos centrais garantir a inclusão e o sucesso educativo de todos os alunos e combater o abandono escolar.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Isto explica a forte diversidade do corpo estudantil do Agrupamento Francisco de Arruda, e a existência de turmas PIEF (Programa Integrado de Educação e Formação) — refletidas nos dados analisados nesta apresentação.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737360"/>
            <a:ext cx="3749039" cy="3931920"/>
          </a:xfrm>
          <a:prstGeom prst="roundRect">
            <a:avLst/>
          </a:prstGeom>
          <a:solidFill>
            <a:srgbClr val="EC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0116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C4F52"/>
                </a:solidFill>
                <a:latin typeface="Calibri"/>
              </a:rPr>
              <a:t>1996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6974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início do programa TEIP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429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C1592B"/>
                </a:solidFill>
                <a:latin typeface="Calibri"/>
              </a:rPr>
              <a:t>TEIP4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1148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Calibri"/>
              </a:rPr>
              <a:t>fase atual, desde 2024/25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Fonte: DGE — Direção-Geral da Educação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4F52"/>
                </a:solidFill>
                <a:latin typeface="Calibri"/>
              </a:rPr>
              <a:t>Visão geral dos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514600" cy="2926080"/>
          </a:xfrm>
          <a:prstGeom prst="roundRect">
            <a:avLst/>
          </a:prstGeom>
          <a:solidFill>
            <a:srgbClr val="1C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22402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463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alunos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514600" cy="2926080"/>
          </a:xfrm>
          <a:prstGeom prst="roundRect">
            <a:avLst/>
          </a:prstGeom>
          <a:solidFill>
            <a:srgbClr val="C1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468880"/>
            <a:ext cx="22402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749039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turmas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2514600" cy="2926080"/>
          </a:xfrm>
          <a:prstGeom prst="roundRect">
            <a:avLst/>
          </a:prstGeom>
          <a:solidFill>
            <a:srgbClr val="1C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22402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5º–9º + PIEF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49039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anos de escolaridade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011680"/>
            <a:ext cx="2514600" cy="2926080"/>
          </a:xfrm>
          <a:prstGeom prst="roundRect">
            <a:avLst/>
          </a:prstGeom>
          <a:solidFill>
            <a:srgbClr val="C1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24028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0.55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749039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índice de diversidade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(nacionalidades)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Turmas do 5º ao 9º ano e turmas PIEF 6º/9º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4F52"/>
                </a:solidFill>
                <a:latin typeface="Calibri"/>
              </a:rPr>
              <a:t>Nacionalidade portuguesa vs. estrangeira</a:t>
            </a:r>
          </a:p>
        </p:txBody>
      </p:sp>
      <p:pic>
        <p:nvPicPr>
          <p:cNvPr id="4" name="Picture 3" descr="chart_nationality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84" y="1554480"/>
            <a:ext cx="562751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1031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C1592B"/>
                </a:solidFill>
                <a:latin typeface="Calibri"/>
              </a:rPr>
              <a:t>1 em cada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283464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alunos com nacionalidade registada é de origem estrangeira — reflexo direto do papel do agrupamento na integração de uma comunidade diversa.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48463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2514E"/>
                </a:solidFill>
                <a:latin typeface="Calibri"/>
              </a:rPr>
              <a:t>Nota: 64 alunos (13,8%) sem nacionalidade registada foram excluídos deste rácio para não distorcer o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Rácio calculado sobre alunos com nacionalidade conhecida (n=399)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4F52"/>
                </a:solidFill>
                <a:latin typeface="Calibri"/>
              </a:rPr>
              <a:t>Nacionalidades representadas</a:t>
            </a:r>
          </a:p>
        </p:txBody>
      </p:sp>
      <p:pic>
        <p:nvPicPr>
          <p:cNvPr id="4" name="Picture 3" descr="chart_nationa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174" y="1463040"/>
            <a:ext cx="8587171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'Outra' agrupa nacionalidades com menos de 3 alunos na escola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4F52"/>
                </a:solidFill>
                <a:latin typeface="Calibri"/>
              </a:rPr>
              <a:t>Apoio socioeconómico (ASE), por ano de escolaridade</a:t>
            </a:r>
          </a:p>
        </p:txBody>
      </p:sp>
      <p:pic>
        <p:nvPicPr>
          <p:cNvPr id="4" name="Picture 3" descr="chart_ase_by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0613"/>
            <a:ext cx="6949440" cy="36397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920240"/>
            <a:ext cx="374903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Ação Social Escolar (ASE) é o principal indicador de vulnerabilidade socioeconómica disponível nestes dados.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taxa varia significativamente entre anos, e é claramente mais baixa entre alunos estrangeiros — um sinal a investigar: pode refletir menor candidatura ao ASE, não necessariamente menor necessidade.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ASE = Ação Social Escolar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C4F52"/>
                </a:solidFill>
                <a:latin typeface="Calibri"/>
              </a:rPr>
              <a:t>Acesso digital em casa</a:t>
            </a:r>
          </a:p>
        </p:txBody>
      </p:sp>
      <p:pic>
        <p:nvPicPr>
          <p:cNvPr id="4" name="Picture 3" descr="chart_digital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4920"/>
            <a:ext cx="6949440" cy="4211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920240"/>
            <a:ext cx="374903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O acesso a internet em casa é consideravelmente mais alto do que o acesso a computador próprio.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Relevante para qualquer estratégia de ensino ou trabalhos de casa que dependa de dispositivo próprio — o telemóvel é provavelmente a via de acesso à internet mais comum nestes casos.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Tem PC / Tem Internet — autodeclarado pelo encarregado de educação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4F52"/>
                </a:solidFill>
                <a:latin typeface="Calibri"/>
              </a:rPr>
              <a:t>Qualidade dos dados — uma oportunidade de melhoria</a:t>
            </a:r>
          </a:p>
        </p:txBody>
      </p:sp>
      <p:pic>
        <p:nvPicPr>
          <p:cNvPr id="4" name="Picture 3" descr="chart_missing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6958"/>
            <a:ext cx="6949440" cy="4567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920240"/>
            <a:ext cx="3749039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Vários campos têm 30%+ de valores em falta — incluindo nacionalidade e data de nascimento em alguns casos.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Recomendação: reforçar a validação obrigatória destes campos no preenchimento/atualização no Inovar, para melhorar a fiabilidade de futuras análises e do apoio à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% de valores 'N/A' por campo, sobre os 463 registos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473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52514E"/>
                </a:solidFill>
                <a:latin typeface="Calibri"/>
              </a:rPr>
              <a:t>Escola Francisco de Arruda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Conclusões e recomendações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A escola serve uma população claramente diversa — mais de 10 nacionalidades, ~34% de alunos estrangeiros.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A taxa de ASE mais baixa entre alunos estrangeiros merece investigação: pode indicar uma barreira de acesso/candidatura, não de necessidade real.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O acesso a computador é o principal fator limitante da literacia digital — mais do que o acesso a internet.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Melhorar a validação de dados no Inovar (nacionalidade, data de nascimento) tornaria análises futuras mais fiáveis.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FE3E0"/>
                </a:solidFill>
                <a:latin typeface="Calibri"/>
              </a:rPr>
              <a:t>Dashboard interativo e código-fonte disponíveis no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9C7C4"/>
                </a:solidFill>
                <a:latin typeface="Calibri"/>
              </a:rPr>
              <a:t>Metodologia de anonimização documentada no repositório — nenhum dado pessoal identificável foi usado.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