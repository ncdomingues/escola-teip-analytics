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Diversidade e Apoio Socioeducativo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2044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CFE3E0"/>
                </a:solidFill>
                <a:latin typeface="Calibri"/>
              </a:rPr>
              <a:t>Agrupamento de Escolas Francisco de Arruda — Escola TEIP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A9C7C4"/>
                </a:solidFill>
                <a:latin typeface="Calibri"/>
              </a:rPr>
              <a:t>Ajuda, Lisboa  ·  Dados anonimizados, 463 alunos  ·  Junho–Agosto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C4F52"/>
                </a:solidFill>
                <a:latin typeface="Calibri"/>
              </a:rPr>
              <a:t>O que é uma escola TEIP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66751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A1A1A"/>
                </a:solidFill>
                <a:latin typeface="Calibri"/>
              </a:rPr>
              <a:t>O Programa Territórios Educativos de Intervenção Prioritária (TEIP) apoia agrupamentos de escolas em contextos socioeconómicos mais vulneráveis, com recursos e acompanhamento diferenciados.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A1A1A"/>
                </a:solidFill>
                <a:latin typeface="Calibri"/>
              </a:rPr>
              <a:t>Iniciado em 1996 e atualmente na sua 4ª geração (TEIP4, desde 2024/25), o programa tem como objetivos centrais garantir a inclusão e o sucesso educativo de todos os alunos e combater o abandono escolar.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A1A1A"/>
                </a:solidFill>
                <a:latin typeface="Calibri"/>
              </a:rPr>
              <a:t>Isto explica a forte diversidade do corpo estudantil do Agrupamento Francisco de Arruda, e a existência de turmas PIEF (Programa Integrado de Educação e Formação) — refletidas nos dados analisados nesta apresentação.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737360"/>
            <a:ext cx="3749039" cy="3931920"/>
          </a:xfrm>
          <a:prstGeom prst="roundRect">
            <a:avLst/>
          </a:prstGeom>
          <a:solidFill>
            <a:srgbClr val="EC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2011680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1C4F52"/>
                </a:solidFill>
                <a:latin typeface="Calibri"/>
              </a:rPr>
              <a:t>1996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269748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2514E"/>
                </a:solidFill>
                <a:latin typeface="Calibri"/>
              </a:rPr>
              <a:t>início do programa TEIP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429000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C1592B"/>
                </a:solidFill>
                <a:latin typeface="Calibri"/>
              </a:rPr>
              <a:t>TEIP4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11480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2514E"/>
                </a:solidFill>
                <a:latin typeface="Calibri"/>
              </a:rPr>
              <a:t>fase atual, desde 2024/25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2514E"/>
                </a:solidFill>
                <a:latin typeface="Calibri"/>
              </a:rPr>
              <a:t>Fonte: DGE — Direção-Geral da Educação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73952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1">
                <a:solidFill>
                  <a:srgbClr val="52514E"/>
                </a:solidFill>
                <a:latin typeface="Calibri"/>
              </a:rPr>
              <a:t>Escola Francisco de Arruda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C4F52"/>
                </a:solidFill>
                <a:latin typeface="Calibri"/>
              </a:rPr>
              <a:t>Visão geral dos dados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2514600" cy="2926080"/>
          </a:xfrm>
          <a:prstGeom prst="roundRect">
            <a:avLst/>
          </a:prstGeom>
          <a:solidFill>
            <a:srgbClr val="1C4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468880"/>
            <a:ext cx="224028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463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2240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alunos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011680"/>
            <a:ext cx="2514600" cy="2926080"/>
          </a:xfrm>
          <a:prstGeom prst="roundRect">
            <a:avLst/>
          </a:prstGeom>
          <a:solidFill>
            <a:srgbClr val="C15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2468880"/>
            <a:ext cx="224028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3749039"/>
            <a:ext cx="2240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turmas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011680"/>
            <a:ext cx="2514600" cy="2926080"/>
          </a:xfrm>
          <a:prstGeom prst="roundRect">
            <a:avLst/>
          </a:prstGeom>
          <a:solidFill>
            <a:srgbClr val="1C4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468880"/>
            <a:ext cx="224028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5º–9º + PIEF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749039"/>
            <a:ext cx="2240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anos de escolaridade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011680"/>
            <a:ext cx="2514600" cy="2926080"/>
          </a:xfrm>
          <a:prstGeom prst="roundRect">
            <a:avLst/>
          </a:prstGeom>
          <a:solidFill>
            <a:srgbClr val="C15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1160" y="2468880"/>
            <a:ext cx="224028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0.55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3749039"/>
            <a:ext cx="2240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índice de diversidade</a:t>
            </a:r>
          </a:p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(nacionalidades)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2514E"/>
                </a:solidFill>
                <a:latin typeface="Calibri"/>
              </a:rPr>
              <a:t>Turmas do 5º ao 9º ano e turmas PIEF 6º/9º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473952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1">
                <a:solidFill>
                  <a:srgbClr val="52514E"/>
                </a:solidFill>
                <a:latin typeface="Calibri"/>
              </a:rPr>
              <a:t>Escola Francisco de Arruda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C4F52"/>
                </a:solidFill>
                <a:latin typeface="Calibri"/>
              </a:rPr>
              <a:t>Fica na escola (atividades de tempos livres)</a:t>
            </a:r>
          </a:p>
        </p:txBody>
      </p:sp>
      <p:pic>
        <p:nvPicPr>
          <p:cNvPr id="4" name="Picture 3" descr="chart_fica_esc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191" y="1463040"/>
            <a:ext cx="5696498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66560" y="1920240"/>
            <a:ext cx="47548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A1A1A"/>
                </a:solidFill>
                <a:latin typeface="Calibri"/>
              </a:rPr>
              <a:t>65% dos alunos ficam na escola para atividades de enriquecimento.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Confirmámos que campos como ASE, RTP, PEI, acesso a PC/internet, oferta de escola e autorização de saída só são preenchidos para este grupo — em média, 90% desses campos ficam em branco para quem não fica.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A1A1A"/>
                </a:solidFill>
                <a:latin typeface="Calibri"/>
              </a:rPr>
              <a:t>Por isso, todas as análises seguintes sobre estes temas são calculadas apenas sobre os alunos que ficam, para não subestimar as taxas reais.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2514E"/>
                </a:solidFill>
                <a:latin typeface="Calibri"/>
              </a:rPr>
              <a:t>301 de 463 alunos ficam na escola; 97 não ficam; 65 sem resposta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73952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1">
                <a:solidFill>
                  <a:srgbClr val="52514E"/>
                </a:solidFill>
                <a:latin typeface="Calibri"/>
              </a:rPr>
              <a:t>Escola Francisco de Arruda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C4F52"/>
                </a:solidFill>
                <a:latin typeface="Calibri"/>
              </a:rPr>
              <a:t>Nacionalidade portuguesa vs. estrangeira</a:t>
            </a:r>
          </a:p>
        </p:txBody>
      </p:sp>
      <p:pic>
        <p:nvPicPr>
          <p:cNvPr id="4" name="Picture 3" descr="chart_nationality_rat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84" y="1554480"/>
            <a:ext cx="5627511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66560" y="2103120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C1592B"/>
                </a:solidFill>
                <a:latin typeface="Calibri"/>
              </a:rPr>
              <a:t>1 em cada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834640"/>
            <a:ext cx="4754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1A1A"/>
                </a:solidFill>
                <a:latin typeface="Calibri"/>
              </a:rPr>
              <a:t>alunos com nacionalidade registada é de origem estrangeira — reflexo direto do papel do agrupamento na integração de uma comunidade diversa.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4846320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2514E"/>
                </a:solidFill>
                <a:latin typeface="Calibri"/>
              </a:rPr>
              <a:t>Nota: 64 alunos (13,8%) sem nacionalidade registada foram excluídos deste rácio para não distorcer o resultado.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2514E"/>
                </a:solidFill>
                <a:latin typeface="Calibri"/>
              </a:rPr>
              <a:t>Rácio calculado sobre alunos com nacionalidade conhecida (n=399)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473952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1">
                <a:solidFill>
                  <a:srgbClr val="52514E"/>
                </a:solidFill>
                <a:latin typeface="Calibri"/>
              </a:rPr>
              <a:t>Escola Francisco de Arruda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C4F52"/>
                </a:solidFill>
                <a:latin typeface="Calibri"/>
              </a:rPr>
              <a:t>Nacionalidades representadas</a:t>
            </a:r>
          </a:p>
        </p:txBody>
      </p:sp>
      <p:pic>
        <p:nvPicPr>
          <p:cNvPr id="4" name="Picture 3" descr="chart_national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174" y="1463040"/>
            <a:ext cx="8587171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2514E"/>
                </a:solidFill>
                <a:latin typeface="Calibri"/>
              </a:rPr>
              <a:t>'Outra' agrupa nacionalidades com menos de 3 alunos na escola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73952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1">
                <a:solidFill>
                  <a:srgbClr val="52514E"/>
                </a:solidFill>
                <a:latin typeface="Calibri"/>
              </a:rPr>
              <a:t>Escola Francisco de Arruda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C4F52"/>
                </a:solidFill>
                <a:latin typeface="Calibri"/>
              </a:rPr>
              <a:t>Apoio socioeconómico (ASE), por ano de escolaridade</a:t>
            </a:r>
          </a:p>
        </p:txBody>
      </p:sp>
      <p:pic>
        <p:nvPicPr>
          <p:cNvPr id="4" name="Picture 3" descr="chart_ase_by_gr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5898"/>
            <a:ext cx="6949440" cy="36491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920240"/>
            <a:ext cx="37490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C1592B"/>
                </a:solidFill>
                <a:latin typeface="Calibri"/>
              </a:rPr>
              <a:t>58%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2606040"/>
            <a:ext cx="37490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dos alunos que ficam na escola (175 de 301) têm 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3566160"/>
            <a:ext cx="3749039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 Ação Social Escolar (ASE) é o principal indicador de vulnerabilidade socioeconómica disponível nestes dados — central à missão TEIP.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 taxa é claramente mais baixa entre alunos estrangeiros (39% vs. 68% entre os portugueses) — um sinal a investigar: pode refletir menor candidatura ao ASE, não necessariamente menor necessidade.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2514E"/>
                </a:solidFill>
                <a:latin typeface="Calibri"/>
              </a:rPr>
              <a:t>ASE = Ação Social Escolar; calculado sobre alunos que ficam na escola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473952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1">
                <a:solidFill>
                  <a:srgbClr val="52514E"/>
                </a:solidFill>
                <a:latin typeface="Calibri"/>
              </a:rPr>
              <a:t>Escola Francisco de Arruda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C4F52"/>
                </a:solidFill>
                <a:latin typeface="Calibri"/>
              </a:rPr>
              <a:t>Acesso digital em casa</a:t>
            </a:r>
          </a:p>
        </p:txBody>
      </p:sp>
      <p:pic>
        <p:nvPicPr>
          <p:cNvPr id="4" name="Picture 3" descr="chart_digital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29465"/>
            <a:ext cx="6949440" cy="42220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920240"/>
            <a:ext cx="3749039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A1A1A"/>
                </a:solidFill>
                <a:latin typeface="Calibri"/>
              </a:rPr>
              <a:t>O acesso a internet em casa é consideravelmente mais alto do que o acesso a computador próprio.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A1A1A"/>
                </a:solidFill>
                <a:latin typeface="Calibri"/>
              </a:rPr>
              <a:t>Relevante para qualquer estratégia de ensino ou trabalhos de casa que dependa de dispositivo próprio — o telemóvel é provavelmente a via de acesso à internet mais comum nestes casos.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2514E"/>
                </a:solidFill>
                <a:latin typeface="Calibri"/>
              </a:rPr>
              <a:t>Tem PC / Tem Internet — autodeclarado pelo encarregado de educação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73952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1">
                <a:solidFill>
                  <a:srgbClr val="52514E"/>
                </a:solidFill>
                <a:latin typeface="Calibri"/>
              </a:rPr>
              <a:t>Escola Francisco de Arruda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C4F52"/>
                </a:solidFill>
                <a:latin typeface="Calibri"/>
              </a:rPr>
              <a:t>Oferta de escola: 1ª escolha de atividade</a:t>
            </a:r>
          </a:p>
        </p:txBody>
      </p:sp>
      <p:pic>
        <p:nvPicPr>
          <p:cNvPr id="4" name="Picture 3" descr="chart_oferta_esc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23096"/>
            <a:ext cx="6949440" cy="44347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920240"/>
            <a:ext cx="3749039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A1A1A"/>
                </a:solidFill>
                <a:latin typeface="Calibri"/>
              </a:rPr>
              <a:t>Teatro é a atividade mais escolhida em 1ª opção, seguida de Música e Cenografia.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A1A1A"/>
                </a:solidFill>
                <a:latin typeface="Calibri"/>
              </a:rPr>
              <a:t>Nas 2ª e 3ª escolhas a ordem muda (Cenografia passa a liderar) — indício de que os alunos distribuem as suas 3 escolhas pelas atividades disponíveis, em vez de repetir a mesma preferência.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2514E"/>
                </a:solidFill>
                <a:latin typeface="Calibri"/>
              </a:rPr>
              <a:t>Calculado sobre alunos que ficam na escola (n=301)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73952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1">
                <a:solidFill>
                  <a:srgbClr val="52514E"/>
                </a:solidFill>
                <a:latin typeface="Calibri"/>
              </a:rPr>
              <a:t>Escola Francisco de Arruda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C4F52"/>
                </a:solidFill>
                <a:latin typeface="Calibri"/>
              </a:rPr>
              <a:t>Condições de saúde e restrições alimentares</a:t>
            </a:r>
          </a:p>
        </p:txBody>
      </p:sp>
      <p:pic>
        <p:nvPicPr>
          <p:cNvPr id="4" name="Picture 3" descr="chart_sa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461" y="1371600"/>
            <a:ext cx="4406198" cy="2468880"/>
          </a:xfrm>
          <a:prstGeom prst="rect">
            <a:avLst/>
          </a:prstGeom>
        </p:spPr>
      </p:pic>
      <p:pic>
        <p:nvPicPr>
          <p:cNvPr id="5" name="Picture 4" descr="chart_die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288" y="3931920"/>
            <a:ext cx="4744543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55448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C1592B"/>
                </a:solidFill>
                <a:latin typeface="Calibri"/>
              </a:rPr>
              <a:t>81% sem condição de saúde referida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28600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Entre os restantes, predominam problemas respiratórios (asma/bronquite) e défice de atenção/hiperatividade.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393192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C1592B"/>
                </a:solidFill>
                <a:latin typeface="Calibri"/>
              </a:rPr>
              <a:t>91% sem restrição alimentar referida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466344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Entre os restantes, destaca-se a não-ingestão de porco/vaca (motivo cultural ou religioso) — reflexo direto da diversidade da escola.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2514E"/>
                </a:solidFill>
                <a:latin typeface="Calibri"/>
              </a:rPr>
              <a:t>Categorias amplas, nunca o diagnóstico literal — ver metodologia de anonimização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73952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1">
                <a:solidFill>
                  <a:srgbClr val="52514E"/>
                </a:solidFill>
                <a:latin typeface="Calibri"/>
              </a:rPr>
              <a:t>Escola Francisco de Arruda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C4F52"/>
                </a:solidFill>
                <a:latin typeface="Calibri"/>
              </a:rPr>
              <a:t>Qualidade dos dados — uma oportunidade de melhoria</a:t>
            </a:r>
          </a:p>
        </p:txBody>
      </p:sp>
      <p:pic>
        <p:nvPicPr>
          <p:cNvPr id="4" name="Picture 3" descr="chart_missing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6958"/>
            <a:ext cx="6949440" cy="45670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920240"/>
            <a:ext cx="3749039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A1A1A"/>
                </a:solidFill>
                <a:latin typeface="Calibri"/>
              </a:rPr>
              <a:t>Vários campos têm 30%+ de valores em falta — incluindo nacionalidade e data de nascimento em alguns casos.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A1A1A"/>
                </a:solidFill>
                <a:latin typeface="Calibri"/>
              </a:rPr>
              <a:t>Recomendação: reforçar a validação obrigatória destes campos no preenchimento/atualização no Inovar, para melhorar a fiabilidade de futuras análises e do apoio à decisão.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2514E"/>
                </a:solidFill>
                <a:latin typeface="Calibri"/>
              </a:rPr>
              <a:t>% de valores 'N/A' por campo, sobre os 463 registos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73952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1">
                <a:solidFill>
                  <a:srgbClr val="52514E"/>
                </a:solidFill>
                <a:latin typeface="Calibri"/>
              </a:rPr>
              <a:t>Escola Francisco de Arruda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Conclusões e recomendações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A escola serve uma população claramente diversa — mais de 10 nacionalidades, ~34% de alunos estrangeiros.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58% dos alunos que ficam na escola têm ASE — e a taxa é quase o dobro entre portugueses (68%) face a estrangeiros (39%): merece investigação se é barreira de acesso, não de necessidade real.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O acesso a computador é o principal fator limitante da literacia digital — mais do que o acesso a internet.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Teatro lidera as primeiras escolhas de atividade; a distribuição muda nas escolhas seguintes.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~19% dos alunos com estado de saúde conhecido têm alguma condição referida, sobretudo respiratória; ~9% têm restrição alimentar, sobretudo por motivo cultural/religioso (porco/vaca).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Melhorar a validação de dados no Inovar (nacionalidade, data de nascimento) tornaria análises futuras mais fiáveis.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FE3E0"/>
                </a:solidFill>
                <a:latin typeface="Calibri"/>
              </a:rPr>
              <a:t>Dashboard interativo e código-fonte disponíveis no GitHub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A9C7C4"/>
                </a:solidFill>
                <a:latin typeface="Calibri"/>
              </a:rPr>
              <a:t>Metodologia de anonimização documentada no repositório — nenhum dado pessoal identificável foi usado.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